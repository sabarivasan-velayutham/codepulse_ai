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4630400" cy="8229600"/>
  <p:notesSz cx="8229600" cy="14630400"/>
  <p:embeddedFontLst>
    <p:embeddedFont>
      <p:font typeface="Unbounded"/>
      <p:regular r:id="rId10"/>
    </p:embeddedFont>
    <p:embeddedFont>
      <p:font typeface="Unbounded"/>
      <p:regular r:id="rId11"/>
    </p:embeddedFont>
    <p:embeddedFont>
      <p:font typeface="Open Sans"/>
      <p:regular r:id="rId12"/>
    </p:embeddedFont>
    <p:embeddedFont>
      <p:font typeface="Open Sans"/>
      <p:regular r:id="rId13"/>
    </p:embeddedFont>
    <p:embeddedFont>
      <p:font typeface="Open Sans"/>
      <p:regular r:id="rId14"/>
    </p:embeddedFont>
    <p:embeddedFont>
      <p:font typeface="Open Sans"/>
      <p:regular r:id="rId15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0" Type="http://schemas.openxmlformats.org/officeDocument/2006/relationships/font" Target="fonts/font1.fntdata"/><Relationship Id="rId11" Type="http://schemas.openxmlformats.org/officeDocument/2006/relationships/font" Target="fonts/font2.fntdata"/><Relationship Id="rId12" Type="http://schemas.openxmlformats.org/officeDocument/2006/relationships/font" Target="fonts/font3.fntdata"/><Relationship Id="rId13" Type="http://schemas.openxmlformats.org/officeDocument/2006/relationships/font" Target="fonts/font4.fntdata"/><Relationship Id="rId14" Type="http://schemas.openxmlformats.org/officeDocument/2006/relationships/font" Target="fonts/font5.fntdata"/><Relationship Id="rId15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6F5E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64628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CodePulse AI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45788"/>
            <a:ext cx="7556421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Intelligent Code &amp; Database Impact Analysis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4494609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7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Preventing production failures before they happen through real-time, AI-powered impact analysis of schema changes across SQL and NoSQL databases.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770" y="646867"/>
            <a:ext cx="8287941" cy="5703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Hybrid Analysis Architecture</a:t>
            </a:r>
            <a:endParaRPr lang="en-US" sz="3550" dirty="0"/>
          </a:p>
        </p:txBody>
      </p:sp>
      <p:sp>
        <p:nvSpPr>
          <p:cNvPr id="3" name="Text 1"/>
          <p:cNvSpPr/>
          <p:nvPr/>
        </p:nvSpPr>
        <p:spPr>
          <a:xfrm>
            <a:off x="638770" y="1582103"/>
            <a:ext cx="13352859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CodePulse AI combines event-driven detection, graph-based dependency mapping, and AI-powered semantic analysis to deliver comprehensive impact assessment in real-time.</a:t>
            </a:r>
            <a:endParaRPr lang="en-US" sz="1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8770" y="2394109"/>
            <a:ext cx="182404" cy="1824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38770" y="2658547"/>
            <a:ext cx="432935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6" name="Text 3"/>
          <p:cNvSpPr/>
          <p:nvPr/>
        </p:nvSpPr>
        <p:spPr>
          <a:xfrm>
            <a:off x="638770" y="2795468"/>
            <a:ext cx="4188976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Automatic Change Detection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38770" y="3190042"/>
            <a:ext cx="4329351" cy="87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PostgreSQL event triggers and MongoDB Change Streams capture schema modifications instantly—zero configuration required, no polling overhead.</a:t>
            </a:r>
            <a:endParaRPr lang="en-US" sz="1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0525" y="2394109"/>
            <a:ext cx="182404" cy="182404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150525" y="2658547"/>
            <a:ext cx="432935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0" name="Text 6"/>
          <p:cNvSpPr/>
          <p:nvPr/>
        </p:nvSpPr>
        <p:spPr>
          <a:xfrm>
            <a:off x="5150525" y="2795468"/>
            <a:ext cx="4329351" cy="570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Multi-Layer Dependency Extraction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5150525" y="3475196"/>
            <a:ext cx="4329351" cy="116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DEPENDS tool parses code relationships whilst Neo4j graphs map database dependencies—capturing foreign keys, views, ORM patterns, and SQL query references.</a:t>
            </a:r>
            <a:endParaRPr lang="en-US" sz="14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62279" y="2394109"/>
            <a:ext cx="182404" cy="182404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9662279" y="2658547"/>
            <a:ext cx="4329351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4" name="Text 9"/>
          <p:cNvSpPr/>
          <p:nvPr/>
        </p:nvSpPr>
        <p:spPr>
          <a:xfrm>
            <a:off x="9662279" y="2795468"/>
            <a:ext cx="4022288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AI-Powered Impact Analysis</a:t>
            </a:r>
            <a:endParaRPr lang="en-US" sz="1750" dirty="0"/>
          </a:p>
        </p:txBody>
      </p:sp>
      <p:sp>
        <p:nvSpPr>
          <p:cNvPr id="15" name="Text 10"/>
          <p:cNvSpPr/>
          <p:nvPr/>
        </p:nvSpPr>
        <p:spPr>
          <a:xfrm>
            <a:off x="9662279" y="3190042"/>
            <a:ext cx="4329351" cy="11677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Google Gemini 1.5 Flash analyses code semantics, identifies business logic implications, and surfaces security, performance, and compliance risks that static analysis misses.</a:t>
            </a:r>
            <a:endParaRPr lang="en-US" sz="14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8770" y="4985028"/>
            <a:ext cx="182404" cy="182404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38770" y="5249466"/>
            <a:ext cx="6585228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18" name="Text 12"/>
          <p:cNvSpPr/>
          <p:nvPr/>
        </p:nvSpPr>
        <p:spPr>
          <a:xfrm>
            <a:off x="638770" y="5386388"/>
            <a:ext cx="3615333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Multi-Factor Risk Scoring</a:t>
            </a:r>
            <a:endParaRPr lang="en-US" sz="1750" dirty="0"/>
          </a:p>
        </p:txBody>
      </p:sp>
      <p:sp>
        <p:nvSpPr>
          <p:cNvPr id="19" name="Text 13"/>
          <p:cNvSpPr/>
          <p:nvPr/>
        </p:nvSpPr>
        <p:spPr>
          <a:xfrm>
            <a:off x="638770" y="5780961"/>
            <a:ext cx="6585228" cy="875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Algorithmic scoring combines technical complexity (0-4), domain criticality (0-3), AI-identified concerns (0-2), and temporal factors—producing actionable 0-10 risk ratings.</a:t>
            </a:r>
            <a:endParaRPr lang="en-US" sz="140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6402" y="4985028"/>
            <a:ext cx="182404" cy="182404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7406402" y="5249466"/>
            <a:ext cx="6585228" cy="22860"/>
          </a:xfrm>
          <a:prstGeom prst="rect">
            <a:avLst/>
          </a:prstGeom>
          <a:solidFill>
            <a:srgbClr val="26A688"/>
          </a:solidFill>
          <a:ln/>
        </p:spPr>
      </p:sp>
      <p:sp>
        <p:nvSpPr>
          <p:cNvPr id="22" name="Text 15"/>
          <p:cNvSpPr/>
          <p:nvPr/>
        </p:nvSpPr>
        <p:spPr>
          <a:xfrm>
            <a:off x="7406402" y="5386388"/>
            <a:ext cx="4459367" cy="285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Interactive Graph Visualization</a:t>
            </a:r>
            <a:endParaRPr lang="en-US" sz="1750" dirty="0"/>
          </a:p>
        </p:txBody>
      </p:sp>
      <p:sp>
        <p:nvSpPr>
          <p:cNvPr id="23" name="Text 16"/>
          <p:cNvSpPr/>
          <p:nvPr/>
        </p:nvSpPr>
        <p:spPr>
          <a:xfrm>
            <a:off x="7406402" y="5780961"/>
            <a:ext cx="6585228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React and D3.js render dependency networks with risk heatmaps, enabling drill-down exploration of impact chains and affected components.</a:t>
            </a:r>
            <a:endParaRPr lang="en-US" sz="1400" dirty="0"/>
          </a:p>
        </p:txBody>
      </p:sp>
      <p:sp>
        <p:nvSpPr>
          <p:cNvPr id="24" name="Text 17"/>
          <p:cNvSpPr/>
          <p:nvPr/>
        </p:nvSpPr>
        <p:spPr>
          <a:xfrm>
            <a:off x="638770" y="6998851"/>
            <a:ext cx="13352859" cy="5838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40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Technology Stack:</a:t>
            </a:r>
            <a:pPr algn="l" indent="0" marL="0">
              <a:lnSpc>
                <a:spcPts val="2250"/>
              </a:lnSpc>
              <a:buNone/>
            </a:pPr>
            <a:r>
              <a:rPr lang="en-US" sz="140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FastAPI backend, Neo4j graph database, PostgreSQL &amp; MongoDB monitoring, React 18 frontend with D3.js visualizations, Docker Compose infrastructure.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3032" y="751999"/>
            <a:ext cx="6397823" cy="3955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00"/>
              </a:lnSpc>
              <a:buNone/>
            </a:pPr>
            <a:r>
              <a:rPr lang="en-US" sz="2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Demonstrated Impact &amp; Results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3032" y="1463873"/>
            <a:ext cx="4475917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80%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1644729" y="2039660"/>
            <a:ext cx="2072521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Manual Effort Saved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43032" y="2313265"/>
            <a:ext cx="4475917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Zero-config monitoring eliminates time-consuming manual schema tracking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077182" y="1463873"/>
            <a:ext cx="4475917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40%</a:t>
            </a:r>
            <a:endParaRPr lang="en-US" sz="3250" dirty="0"/>
          </a:p>
        </p:txBody>
      </p:sp>
      <p:sp>
        <p:nvSpPr>
          <p:cNvPr id="7" name="Text 5"/>
          <p:cNvSpPr/>
          <p:nvPr/>
        </p:nvSpPr>
        <p:spPr>
          <a:xfrm>
            <a:off x="6269950" y="2039660"/>
            <a:ext cx="209038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More Risks Identified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77182" y="2313265"/>
            <a:ext cx="4475917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context awareness surfaces hidden impacts beyond static analysis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711333" y="1463873"/>
            <a:ext cx="4476036" cy="4176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3250"/>
              </a:lnSpc>
              <a:buNone/>
            </a:pPr>
            <a:r>
              <a:rPr lang="en-US" sz="32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100%</a:t>
            </a:r>
            <a:endParaRPr lang="en-US" sz="3250" dirty="0"/>
          </a:p>
        </p:txBody>
      </p:sp>
      <p:sp>
        <p:nvSpPr>
          <p:cNvPr id="10" name="Text 8"/>
          <p:cNvSpPr/>
          <p:nvPr/>
        </p:nvSpPr>
        <p:spPr>
          <a:xfrm>
            <a:off x="10953631" y="2039660"/>
            <a:ext cx="1991320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Database Coverage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711333" y="2313265"/>
            <a:ext cx="4476036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Unified analysis across PostgreSQL and MongoDB platforms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43032" y="2705457"/>
            <a:ext cx="3408640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Real-World Validation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443032" y="3211711"/>
            <a:ext cx="4496991" cy="2378869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8272" y="3226951"/>
            <a:ext cx="4466511" cy="379690"/>
          </a:xfrm>
          <a:prstGeom prst="roundRect">
            <a:avLst>
              <a:gd name="adj" fmla="val 9188"/>
            </a:avLst>
          </a:prstGeom>
          <a:solidFill>
            <a:srgbClr val="D6F5EE"/>
          </a:solidFill>
          <a:ln/>
        </p:spPr>
      </p:sp>
      <p:sp>
        <p:nvSpPr>
          <p:cNvPr id="15" name="Text 13"/>
          <p:cNvSpPr/>
          <p:nvPr/>
        </p:nvSpPr>
        <p:spPr>
          <a:xfrm>
            <a:off x="2596634" y="3294340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1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84835" y="3733205"/>
            <a:ext cx="3374231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PostgreSQL Schema Modification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4835" y="4006810"/>
            <a:ext cx="421338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transactions ADD COLUMN fraud_score DECIMAL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84835" y="4285059"/>
            <a:ext cx="421338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Detection: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11 affected code files, 3 related tables identified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84835" y="4563308"/>
            <a:ext cx="421338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9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8.5/10 (HIGH)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Critical payment table impact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84835" y="4841558"/>
            <a:ext cx="4213384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Insight: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"Adding fraud_score requires data migration strategy and coordinated code updates across payment processing modules"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66586" y="3211711"/>
            <a:ext cx="4497110" cy="2378869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81826" y="3226951"/>
            <a:ext cx="4466630" cy="379690"/>
          </a:xfrm>
          <a:prstGeom prst="roundRect">
            <a:avLst>
              <a:gd name="adj" fmla="val 9188"/>
            </a:avLst>
          </a:prstGeom>
          <a:solidFill>
            <a:srgbClr val="D6F5EE"/>
          </a:solidFill>
          <a:ln/>
        </p:spPr>
      </p:sp>
      <p:sp>
        <p:nvSpPr>
          <p:cNvPr id="23" name="Text 21"/>
          <p:cNvSpPr/>
          <p:nvPr/>
        </p:nvSpPr>
        <p:spPr>
          <a:xfrm>
            <a:off x="7220188" y="3294340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2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208389" y="3733205"/>
            <a:ext cx="2464118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MongoDB Index Creation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08389" y="4006810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db.transactions.createIndex({amount: 1, processed_at: -1})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208389" y="4285059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Detection: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8 affected code files querying transactions collection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208389" y="4563308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9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6.9/10 (HIGH)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Query performance implications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208389" y="4841558"/>
            <a:ext cx="421350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Insight: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"Index improves read performance but may affect write throughput during high-volume transaction periods"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690259" y="3211711"/>
            <a:ext cx="4497110" cy="2378869"/>
          </a:xfrm>
          <a:prstGeom prst="roundRect">
            <a:avLst>
              <a:gd name="adj" fmla="val 2235"/>
            </a:avLst>
          </a:prstGeom>
          <a:solidFill>
            <a:srgbClr val="FFFFFF"/>
          </a:solidFill>
          <a:ln w="15240">
            <a:solidFill>
              <a:srgbClr val="BCDB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705499" y="3226951"/>
            <a:ext cx="4466630" cy="379690"/>
          </a:xfrm>
          <a:prstGeom prst="roundRect">
            <a:avLst>
              <a:gd name="adj" fmla="val 9188"/>
            </a:avLst>
          </a:prstGeom>
          <a:solidFill>
            <a:srgbClr val="D6F5EE"/>
          </a:solidFill>
          <a:ln/>
        </p:spPr>
      </p:sp>
      <p:sp>
        <p:nvSpPr>
          <p:cNvPr id="31" name="Text 29"/>
          <p:cNvSpPr/>
          <p:nvPr/>
        </p:nvSpPr>
        <p:spPr>
          <a:xfrm>
            <a:off x="11843861" y="3294340"/>
            <a:ext cx="189786" cy="237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450"/>
              </a:lnSpc>
              <a:buNone/>
            </a:pPr>
            <a:r>
              <a:rPr lang="en-US" sz="14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3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32062" y="3733205"/>
            <a:ext cx="2428994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Code Logic Modification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832062" y="4006810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PaymentProcessor.java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fee calculation algorithm change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832062" y="4285059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Detection: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15 downstream dependencies mapped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9832062" y="4563308"/>
            <a:ext cx="4213503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Risk Score: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98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9.2/10 (CRITICAL)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Financial calculation integrity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9832062" y="4841558"/>
            <a:ext cx="4213503" cy="6072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AI Insight: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"Fee calculation change propagates through all payment workflows—requires comprehensive regression testing and regulatory review"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43032" y="5780365"/>
            <a:ext cx="4603194" cy="31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Production-Ready Excellence</a:t>
            </a:r>
            <a:endParaRPr lang="en-US" sz="1950" dirty="0"/>
          </a:p>
        </p:txBody>
      </p:sp>
      <p:sp>
        <p:nvSpPr>
          <p:cNvPr id="38" name="Text 36"/>
          <p:cNvSpPr/>
          <p:nvPr/>
        </p:nvSpPr>
        <p:spPr>
          <a:xfrm>
            <a:off x="443032" y="6413183"/>
            <a:ext cx="2401133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Technical Achievements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43032" y="6737509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Sub-second Detection: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Event-driven architecture delivers real-time notifications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43032" y="6984206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Zero False Positives: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Multi-layer validation ensures accuracy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443032" y="7230904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Comprehensive Coverage: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Unified code, database, and AI insights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7477244" y="6413183"/>
            <a:ext cx="2118003" cy="1977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1200" b="1" dirty="0">
                <a:solidFill>
                  <a:srgbClr val="333F70"/>
                </a:solidFill>
                <a:latin typeface="Unbounded Bold" pitchFamily="34" charset="0"/>
                <a:ea typeface="Unbounded Bold" pitchFamily="34" charset="-122"/>
                <a:cs typeface="Unbounded Bold" pitchFamily="34" charset="-120"/>
              </a:rPr>
              <a:t>Innovation Highlights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477244" y="6737509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Minimal Information Analysis: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Works with incomplete SQL from trigger constraints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477244" y="6984206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Database-Agnostic: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Single platform for SQL and NoSQL ecosystems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477244" y="7230904"/>
            <a:ext cx="6717744" cy="2024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Hybrid Parser+AI: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333F7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Speed of parsing with intelligence of AI reasoning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2025-11-20T11:05:16Z</dcterms:created>
  <dcterms:modified xsi:type="dcterms:W3CDTF">2025-11-20T11:05:16Z</dcterms:modified>
</cp:coreProperties>
</file>